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Canva Sans Bold" charset="1" panose="020B0803030501040103"/>
      <p:regular r:id="rId39"/>
    </p:embeddedFont>
    <p:embeddedFont>
      <p:font typeface="Arial MT Pro Bold" charset="1" panose="020B0802020202020204"/>
      <p:regular r:id="rId40"/>
    </p:embeddedFont>
    <p:embeddedFont>
      <p:font typeface="Arial MT Pro" charset="1" panose="020B0502020202020204"/>
      <p:regular r:id="rId41"/>
    </p:embeddedFont>
    <p:embeddedFont>
      <p:font typeface="Canva Sans" charset="1" panose="020B05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194316" y="2118754"/>
            <a:ext cx="7744566" cy="5855093"/>
            <a:chOff x="0" y="0"/>
            <a:chExt cx="660400" cy="499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499280"/>
            </a:xfrm>
            <a:custGeom>
              <a:avLst/>
              <a:gdLst/>
              <a:ahLst/>
              <a:cxnLst/>
              <a:rect r="r" b="b" t="t" l="l"/>
              <a:pathLst>
                <a:path h="49928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1538"/>
                  </a:cubicBezTo>
                  <a:lnTo>
                    <a:pt x="660400" y="499280"/>
                  </a:lnTo>
                  <a:lnTo>
                    <a:pt x="0" y="499280"/>
                  </a:lnTo>
                  <a:lnTo>
                    <a:pt x="0" y="32167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410380"/>
            </a:xfrm>
            <a:prstGeom prst="rect">
              <a:avLst/>
            </a:prstGeom>
          </p:spPr>
          <p:txBody>
            <a:bodyPr anchor="ctr" rtlCol="false" tIns="1091778" lIns="1091778" bIns="1091778" rIns="10917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3435117" y="2215954"/>
            <a:ext cx="7744566" cy="5855093"/>
            <a:chOff x="0" y="0"/>
            <a:chExt cx="660400" cy="499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499280"/>
            </a:xfrm>
            <a:custGeom>
              <a:avLst/>
              <a:gdLst/>
              <a:ahLst/>
              <a:cxnLst/>
              <a:rect r="r" b="b" t="t" l="l"/>
              <a:pathLst>
                <a:path h="49928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1538"/>
                  </a:cubicBezTo>
                  <a:lnTo>
                    <a:pt x="660400" y="499280"/>
                  </a:lnTo>
                  <a:lnTo>
                    <a:pt x="0" y="499280"/>
                  </a:lnTo>
                  <a:lnTo>
                    <a:pt x="0" y="32167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9FC0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410380"/>
            </a:xfrm>
            <a:prstGeom prst="rect">
              <a:avLst/>
            </a:prstGeom>
          </p:spPr>
          <p:txBody>
            <a:bodyPr anchor="ctr" rtlCol="false" tIns="1091778" lIns="1091778" bIns="1091778" rIns="10917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28649" y="8579439"/>
            <a:ext cx="3590013" cy="678861"/>
            <a:chOff x="0" y="0"/>
            <a:chExt cx="214916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9162" cy="406400"/>
            </a:xfrm>
            <a:custGeom>
              <a:avLst/>
              <a:gdLst/>
              <a:ahLst/>
              <a:cxnLst/>
              <a:rect r="r" b="b" t="t" l="l"/>
              <a:pathLst>
                <a:path h="406400" w="2149162">
                  <a:moveTo>
                    <a:pt x="1945962" y="0"/>
                  </a:moveTo>
                  <a:cubicBezTo>
                    <a:pt x="2058186" y="0"/>
                    <a:pt x="2149162" y="90976"/>
                    <a:pt x="2149162" y="203200"/>
                  </a:cubicBezTo>
                  <a:cubicBezTo>
                    <a:pt x="2149162" y="315424"/>
                    <a:pt x="2058186" y="406400"/>
                    <a:pt x="194596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2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49162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5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8649" y="6696641"/>
            <a:ext cx="3590013" cy="1700984"/>
            <a:chOff x="0" y="0"/>
            <a:chExt cx="945518" cy="447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5518" cy="447996"/>
            </a:xfrm>
            <a:custGeom>
              <a:avLst/>
              <a:gdLst/>
              <a:ahLst/>
              <a:cxnLst/>
              <a:rect r="r" b="b" t="t" l="l"/>
              <a:pathLst>
                <a:path h="447996" w="945518">
                  <a:moveTo>
                    <a:pt x="60382" y="0"/>
                  </a:moveTo>
                  <a:lnTo>
                    <a:pt x="885136" y="0"/>
                  </a:lnTo>
                  <a:cubicBezTo>
                    <a:pt x="901150" y="0"/>
                    <a:pt x="916508" y="6362"/>
                    <a:pt x="927832" y="17686"/>
                  </a:cubicBezTo>
                  <a:cubicBezTo>
                    <a:pt x="939156" y="29010"/>
                    <a:pt x="945518" y="44368"/>
                    <a:pt x="945518" y="60382"/>
                  </a:cubicBezTo>
                  <a:lnTo>
                    <a:pt x="945518" y="387613"/>
                  </a:lnTo>
                  <a:cubicBezTo>
                    <a:pt x="945518" y="403628"/>
                    <a:pt x="939156" y="418986"/>
                    <a:pt x="927832" y="430310"/>
                  </a:cubicBezTo>
                  <a:cubicBezTo>
                    <a:pt x="916508" y="441634"/>
                    <a:pt x="901150" y="447996"/>
                    <a:pt x="885136" y="447996"/>
                  </a:cubicBezTo>
                  <a:lnTo>
                    <a:pt x="60382" y="447996"/>
                  </a:lnTo>
                  <a:cubicBezTo>
                    <a:pt x="44368" y="447996"/>
                    <a:pt x="29010" y="441634"/>
                    <a:pt x="17686" y="430310"/>
                  </a:cubicBezTo>
                  <a:cubicBezTo>
                    <a:pt x="6362" y="418986"/>
                    <a:pt x="0" y="403628"/>
                    <a:pt x="0" y="387613"/>
                  </a:cubicBezTo>
                  <a:lnTo>
                    <a:pt x="0" y="60382"/>
                  </a:lnTo>
                  <a:cubicBezTo>
                    <a:pt x="0" y="44368"/>
                    <a:pt x="6362" y="29010"/>
                    <a:pt x="17686" y="17686"/>
                  </a:cubicBezTo>
                  <a:cubicBezTo>
                    <a:pt x="29010" y="6362"/>
                    <a:pt x="44368" y="0"/>
                    <a:pt x="603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45518" cy="486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Đặng Vĩnh Tiến 22119239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501678" y="8739049"/>
            <a:ext cx="359068" cy="359068"/>
          </a:xfrm>
          <a:custGeom>
            <a:avLst/>
            <a:gdLst/>
            <a:ahLst/>
            <a:cxnLst/>
            <a:rect r="r" b="b" t="t" l="l"/>
            <a:pathLst>
              <a:path h="359068" w="359068">
                <a:moveTo>
                  <a:pt x="0" y="0"/>
                </a:moveTo>
                <a:lnTo>
                  <a:pt x="359068" y="0"/>
                </a:lnTo>
                <a:lnTo>
                  <a:pt x="359068" y="359068"/>
                </a:lnTo>
                <a:lnTo>
                  <a:pt x="0" y="35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44687" y="390004"/>
            <a:ext cx="1568026" cy="1568026"/>
            <a:chOff x="0" y="0"/>
            <a:chExt cx="2090701" cy="20907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0674" cy="2090674"/>
            </a:xfrm>
            <a:custGeom>
              <a:avLst/>
              <a:gdLst/>
              <a:ahLst/>
              <a:cxnLst/>
              <a:rect r="r" b="b" t="t" l="l"/>
              <a:pathLst>
                <a:path h="2090674" w="2090674">
                  <a:moveTo>
                    <a:pt x="0" y="0"/>
                  </a:moveTo>
                  <a:lnTo>
                    <a:pt x="2090674" y="0"/>
                  </a:lnTo>
                  <a:lnTo>
                    <a:pt x="2090674" y="2090674"/>
                  </a:lnTo>
                  <a:lnTo>
                    <a:pt x="0" y="2090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016695" y="8719912"/>
            <a:ext cx="2546397" cy="34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b="true" sz="1777">
                <a:solidFill>
                  <a:srgbClr val="EFEFEF">
                    <a:alpha val="80000"/>
                  </a:srgb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Date: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74810" y="8719912"/>
            <a:ext cx="1723331" cy="34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>
                <a:solidFill>
                  <a:srgbClr val="EFEFEF">
                    <a:alpha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December 2025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3155959"/>
            <a:ext cx="12139053" cy="21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2"/>
              </a:lnSpc>
              <a:spcBef>
                <a:spcPct val="0"/>
              </a:spcBef>
            </a:pPr>
            <a:r>
              <a:rPr lang="en-US" b="true" sz="4194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KẾ BỘ DAO ĐỘNG VÒNG CMOS 3.4 GHZ TIÊU THỤ CÔNG SUẤT THẤP </a:t>
            </a:r>
          </a:p>
          <a:p>
            <a:pPr algn="ctr" marL="0" indent="0" lvl="0">
              <a:lnSpc>
                <a:spcPts val="5872"/>
              </a:lnSpc>
              <a:spcBef>
                <a:spcPct val="0"/>
              </a:spcBef>
            </a:pPr>
            <a:r>
              <a:rPr lang="en-US" b="true" sz="4194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 CÁC ỨNG DỤNG IC TRÊN CHIP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30613" y="1456960"/>
            <a:ext cx="3218659" cy="1973812"/>
          </a:xfrm>
          <a:custGeom>
            <a:avLst/>
            <a:gdLst/>
            <a:ahLst/>
            <a:cxnLst/>
            <a:rect r="r" b="b" t="t" l="l"/>
            <a:pathLst>
              <a:path h="1973812" w="3218659">
                <a:moveTo>
                  <a:pt x="0" y="0"/>
                </a:moveTo>
                <a:lnTo>
                  <a:pt x="3218660" y="0"/>
                </a:lnTo>
                <a:lnTo>
                  <a:pt x="3218660" y="1973812"/>
                </a:lnTo>
                <a:lnTo>
                  <a:pt x="0" y="1973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8567" y="2843322"/>
            <a:ext cx="3649289" cy="1735091"/>
          </a:xfrm>
          <a:custGeom>
            <a:avLst/>
            <a:gdLst/>
            <a:ahLst/>
            <a:cxnLst/>
            <a:rect r="r" b="b" t="t" l="l"/>
            <a:pathLst>
              <a:path h="1735091" w="3649289">
                <a:moveTo>
                  <a:pt x="0" y="0"/>
                </a:moveTo>
                <a:lnTo>
                  <a:pt x="3649288" y="0"/>
                </a:lnTo>
                <a:lnTo>
                  <a:pt x="3649288" y="1735091"/>
                </a:lnTo>
                <a:lnTo>
                  <a:pt x="0" y="1735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5480" y="4267218"/>
            <a:ext cx="6324750" cy="2213663"/>
          </a:xfrm>
          <a:custGeom>
            <a:avLst/>
            <a:gdLst/>
            <a:ahLst/>
            <a:cxnLst/>
            <a:rect r="r" b="b" t="t" l="l"/>
            <a:pathLst>
              <a:path h="2213663" w="6324750">
                <a:moveTo>
                  <a:pt x="0" y="0"/>
                </a:moveTo>
                <a:lnTo>
                  <a:pt x="6324750" y="0"/>
                </a:lnTo>
                <a:lnTo>
                  <a:pt x="6324750" y="2213662"/>
                </a:lnTo>
                <a:lnTo>
                  <a:pt x="0" y="221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66650" y="1644372"/>
            <a:ext cx="5392650" cy="3306991"/>
          </a:xfrm>
          <a:custGeom>
            <a:avLst/>
            <a:gdLst/>
            <a:ahLst/>
            <a:cxnLst/>
            <a:rect r="r" b="b" t="t" l="l"/>
            <a:pathLst>
              <a:path h="3306991" w="5392650">
                <a:moveTo>
                  <a:pt x="0" y="0"/>
                </a:moveTo>
                <a:lnTo>
                  <a:pt x="5392650" y="0"/>
                </a:lnTo>
                <a:lnTo>
                  <a:pt x="5392650" y="3306992"/>
                </a:lnTo>
                <a:lnTo>
                  <a:pt x="0" y="33069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34114" y="5643608"/>
            <a:ext cx="4050871" cy="2531794"/>
          </a:xfrm>
          <a:custGeom>
            <a:avLst/>
            <a:gdLst/>
            <a:ahLst/>
            <a:cxnLst/>
            <a:rect r="r" b="b" t="t" l="l"/>
            <a:pathLst>
              <a:path h="2531794" w="4050871">
                <a:moveTo>
                  <a:pt x="0" y="0"/>
                </a:moveTo>
                <a:lnTo>
                  <a:pt x="4050871" y="0"/>
                </a:lnTo>
                <a:lnTo>
                  <a:pt x="4050871" y="2531795"/>
                </a:lnTo>
                <a:lnTo>
                  <a:pt x="0" y="2531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07942"/>
            <a:ext cx="666642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6084985" y="4739577"/>
            <a:ext cx="212465" cy="9040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2034114" y="4739577"/>
            <a:ext cx="2795026" cy="9267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833305"/>
            <a:ext cx="8566428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Các chuẩn truyền thông hiện đại</a:t>
            </a:r>
            <a:r>
              <a:rPr lang="en-US" b="true" sz="4194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2022" y="744351"/>
            <a:ext cx="382190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Vòng khóa pha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68797" y="8289703"/>
            <a:ext cx="538150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Mạch dao động vòng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01697" y="1471348"/>
            <a:ext cx="5371210" cy="6165849"/>
            <a:chOff x="0" y="0"/>
            <a:chExt cx="1414640" cy="1623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4640" cy="1623927"/>
            </a:xfrm>
            <a:custGeom>
              <a:avLst/>
              <a:gdLst/>
              <a:ahLst/>
              <a:cxnLst/>
              <a:rect r="r" b="b" t="t" l="l"/>
              <a:pathLst>
                <a:path h="1623927" w="1414640">
                  <a:moveTo>
                    <a:pt x="24503" y="0"/>
                  </a:moveTo>
                  <a:lnTo>
                    <a:pt x="1390136" y="0"/>
                  </a:lnTo>
                  <a:cubicBezTo>
                    <a:pt x="1396635" y="0"/>
                    <a:pt x="1402868" y="2582"/>
                    <a:pt x="1407463" y="7177"/>
                  </a:cubicBezTo>
                  <a:cubicBezTo>
                    <a:pt x="1412058" y="11772"/>
                    <a:pt x="1414640" y="18005"/>
                    <a:pt x="1414640" y="24503"/>
                  </a:cubicBezTo>
                  <a:lnTo>
                    <a:pt x="1414640" y="1599424"/>
                  </a:lnTo>
                  <a:cubicBezTo>
                    <a:pt x="1414640" y="1605923"/>
                    <a:pt x="1412058" y="1612155"/>
                    <a:pt x="1407463" y="1616750"/>
                  </a:cubicBezTo>
                  <a:cubicBezTo>
                    <a:pt x="1402868" y="1621346"/>
                    <a:pt x="1396635" y="1623927"/>
                    <a:pt x="1390136" y="1623927"/>
                  </a:cubicBezTo>
                  <a:lnTo>
                    <a:pt x="24503" y="1623927"/>
                  </a:lnTo>
                  <a:cubicBezTo>
                    <a:pt x="18005" y="1623927"/>
                    <a:pt x="11772" y="1621346"/>
                    <a:pt x="7177" y="1616750"/>
                  </a:cubicBezTo>
                  <a:cubicBezTo>
                    <a:pt x="2582" y="1612155"/>
                    <a:pt x="0" y="1605923"/>
                    <a:pt x="0" y="1599424"/>
                  </a:cubicBezTo>
                  <a:lnTo>
                    <a:pt x="0" y="24503"/>
                  </a:lnTo>
                  <a:cubicBezTo>
                    <a:pt x="0" y="18005"/>
                    <a:pt x="2582" y="11772"/>
                    <a:pt x="7177" y="7177"/>
                  </a:cubicBezTo>
                  <a:cubicBezTo>
                    <a:pt x="11772" y="2582"/>
                    <a:pt x="18005" y="0"/>
                    <a:pt x="24503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14640" cy="1662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4226" y="1606029"/>
            <a:ext cx="5036282" cy="5878768"/>
            <a:chOff x="0" y="0"/>
            <a:chExt cx="1326428" cy="15483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6428" cy="1548317"/>
            </a:xfrm>
            <a:custGeom>
              <a:avLst/>
              <a:gdLst/>
              <a:ahLst/>
              <a:cxnLst/>
              <a:rect r="r" b="b" t="t" l="l"/>
              <a:pathLst>
                <a:path h="1548317" w="1326428">
                  <a:moveTo>
                    <a:pt x="26133" y="0"/>
                  </a:moveTo>
                  <a:lnTo>
                    <a:pt x="1300295" y="0"/>
                  </a:lnTo>
                  <a:cubicBezTo>
                    <a:pt x="1307226" y="0"/>
                    <a:pt x="1313873" y="2753"/>
                    <a:pt x="1318774" y="7654"/>
                  </a:cubicBezTo>
                  <a:cubicBezTo>
                    <a:pt x="1323675" y="12555"/>
                    <a:pt x="1326428" y="19202"/>
                    <a:pt x="1326428" y="26133"/>
                  </a:cubicBezTo>
                  <a:lnTo>
                    <a:pt x="1326428" y="1522185"/>
                  </a:lnTo>
                  <a:cubicBezTo>
                    <a:pt x="1326428" y="1536617"/>
                    <a:pt x="1314728" y="1548317"/>
                    <a:pt x="1300295" y="1548317"/>
                  </a:cubicBezTo>
                  <a:lnTo>
                    <a:pt x="26133" y="1548317"/>
                  </a:lnTo>
                  <a:cubicBezTo>
                    <a:pt x="19202" y="1548317"/>
                    <a:pt x="12555" y="1545564"/>
                    <a:pt x="7654" y="1540663"/>
                  </a:cubicBezTo>
                  <a:cubicBezTo>
                    <a:pt x="2753" y="1535762"/>
                    <a:pt x="0" y="1529115"/>
                    <a:pt x="0" y="1522185"/>
                  </a:cubicBezTo>
                  <a:lnTo>
                    <a:pt x="0" y="26133"/>
                  </a:lnTo>
                  <a:cubicBezTo>
                    <a:pt x="0" y="19202"/>
                    <a:pt x="2753" y="12555"/>
                    <a:pt x="7654" y="7654"/>
                  </a:cubicBezTo>
                  <a:cubicBezTo>
                    <a:pt x="12555" y="2753"/>
                    <a:pt x="19202" y="0"/>
                    <a:pt x="26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6428" cy="1586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954339" y="1462489"/>
            <a:ext cx="5371210" cy="6165849"/>
            <a:chOff x="0" y="0"/>
            <a:chExt cx="1414640" cy="16239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4640" cy="1623927"/>
            </a:xfrm>
            <a:custGeom>
              <a:avLst/>
              <a:gdLst/>
              <a:ahLst/>
              <a:cxnLst/>
              <a:rect r="r" b="b" t="t" l="l"/>
              <a:pathLst>
                <a:path h="1623927" w="1414640">
                  <a:moveTo>
                    <a:pt x="24503" y="0"/>
                  </a:moveTo>
                  <a:lnTo>
                    <a:pt x="1390136" y="0"/>
                  </a:lnTo>
                  <a:cubicBezTo>
                    <a:pt x="1396635" y="0"/>
                    <a:pt x="1402868" y="2582"/>
                    <a:pt x="1407463" y="7177"/>
                  </a:cubicBezTo>
                  <a:cubicBezTo>
                    <a:pt x="1412058" y="11772"/>
                    <a:pt x="1414640" y="18005"/>
                    <a:pt x="1414640" y="24503"/>
                  </a:cubicBezTo>
                  <a:lnTo>
                    <a:pt x="1414640" y="1599424"/>
                  </a:lnTo>
                  <a:cubicBezTo>
                    <a:pt x="1414640" y="1605923"/>
                    <a:pt x="1412058" y="1612155"/>
                    <a:pt x="1407463" y="1616750"/>
                  </a:cubicBezTo>
                  <a:cubicBezTo>
                    <a:pt x="1402868" y="1621346"/>
                    <a:pt x="1396635" y="1623927"/>
                    <a:pt x="1390136" y="1623927"/>
                  </a:cubicBezTo>
                  <a:lnTo>
                    <a:pt x="24503" y="1623927"/>
                  </a:lnTo>
                  <a:cubicBezTo>
                    <a:pt x="18005" y="1623927"/>
                    <a:pt x="11772" y="1621346"/>
                    <a:pt x="7177" y="1616750"/>
                  </a:cubicBezTo>
                  <a:cubicBezTo>
                    <a:pt x="2582" y="1612155"/>
                    <a:pt x="0" y="1605923"/>
                    <a:pt x="0" y="1599424"/>
                  </a:cubicBezTo>
                  <a:lnTo>
                    <a:pt x="0" y="24503"/>
                  </a:lnTo>
                  <a:cubicBezTo>
                    <a:pt x="0" y="18005"/>
                    <a:pt x="2582" y="11772"/>
                    <a:pt x="7177" y="7177"/>
                  </a:cubicBezTo>
                  <a:cubicBezTo>
                    <a:pt x="11772" y="2582"/>
                    <a:pt x="18005" y="0"/>
                    <a:pt x="24503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4640" cy="1662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21804" y="1606029"/>
            <a:ext cx="5036282" cy="5878768"/>
            <a:chOff x="0" y="0"/>
            <a:chExt cx="1326428" cy="15483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6428" cy="1548317"/>
            </a:xfrm>
            <a:custGeom>
              <a:avLst/>
              <a:gdLst/>
              <a:ahLst/>
              <a:cxnLst/>
              <a:rect r="r" b="b" t="t" l="l"/>
              <a:pathLst>
                <a:path h="1548317" w="1326428">
                  <a:moveTo>
                    <a:pt x="26133" y="0"/>
                  </a:moveTo>
                  <a:lnTo>
                    <a:pt x="1300295" y="0"/>
                  </a:lnTo>
                  <a:cubicBezTo>
                    <a:pt x="1307226" y="0"/>
                    <a:pt x="1313873" y="2753"/>
                    <a:pt x="1318774" y="7654"/>
                  </a:cubicBezTo>
                  <a:cubicBezTo>
                    <a:pt x="1323675" y="12555"/>
                    <a:pt x="1326428" y="19202"/>
                    <a:pt x="1326428" y="26133"/>
                  </a:cubicBezTo>
                  <a:lnTo>
                    <a:pt x="1326428" y="1522185"/>
                  </a:lnTo>
                  <a:cubicBezTo>
                    <a:pt x="1326428" y="1536617"/>
                    <a:pt x="1314728" y="1548317"/>
                    <a:pt x="1300295" y="1548317"/>
                  </a:cubicBezTo>
                  <a:lnTo>
                    <a:pt x="26133" y="1548317"/>
                  </a:lnTo>
                  <a:cubicBezTo>
                    <a:pt x="19202" y="1548317"/>
                    <a:pt x="12555" y="1545564"/>
                    <a:pt x="7654" y="1540663"/>
                  </a:cubicBezTo>
                  <a:cubicBezTo>
                    <a:pt x="2753" y="1535762"/>
                    <a:pt x="0" y="1529115"/>
                    <a:pt x="0" y="1522185"/>
                  </a:cubicBezTo>
                  <a:lnTo>
                    <a:pt x="0" y="26133"/>
                  </a:lnTo>
                  <a:cubicBezTo>
                    <a:pt x="0" y="19202"/>
                    <a:pt x="2753" y="12555"/>
                    <a:pt x="7654" y="7654"/>
                  </a:cubicBezTo>
                  <a:cubicBezTo>
                    <a:pt x="12555" y="2753"/>
                    <a:pt x="19202" y="0"/>
                    <a:pt x="26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26428" cy="1586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359790" y="2010736"/>
            <a:ext cx="4560310" cy="4365067"/>
          </a:xfrm>
          <a:custGeom>
            <a:avLst/>
            <a:gdLst/>
            <a:ahLst/>
            <a:cxnLst/>
            <a:rect r="r" b="b" t="t" l="l"/>
            <a:pathLst>
              <a:path h="4365067" w="4560310">
                <a:moveTo>
                  <a:pt x="0" y="0"/>
                </a:moveTo>
                <a:lnTo>
                  <a:pt x="4560310" y="0"/>
                </a:lnTo>
                <a:lnTo>
                  <a:pt x="4560310" y="4365067"/>
                </a:lnTo>
                <a:lnTo>
                  <a:pt x="0" y="4365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1857" y="3059821"/>
            <a:ext cx="4521019" cy="1904101"/>
          </a:xfrm>
          <a:custGeom>
            <a:avLst/>
            <a:gdLst/>
            <a:ahLst/>
            <a:cxnLst/>
            <a:rect r="r" b="b" t="t" l="l"/>
            <a:pathLst>
              <a:path h="1904101" w="4521019">
                <a:moveTo>
                  <a:pt x="0" y="0"/>
                </a:moveTo>
                <a:lnTo>
                  <a:pt x="4521019" y="0"/>
                </a:lnTo>
                <a:lnTo>
                  <a:pt x="4521019" y="1904101"/>
                </a:lnTo>
                <a:lnTo>
                  <a:pt x="0" y="1904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0" y="107942"/>
            <a:ext cx="666642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619122"/>
            <a:ext cx="503628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Tạo clock on-chip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52575" y="1462489"/>
            <a:ext cx="5371210" cy="6165849"/>
            <a:chOff x="0" y="0"/>
            <a:chExt cx="1414640" cy="16239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4640" cy="1623927"/>
            </a:xfrm>
            <a:custGeom>
              <a:avLst/>
              <a:gdLst/>
              <a:ahLst/>
              <a:cxnLst/>
              <a:rect r="r" b="b" t="t" l="l"/>
              <a:pathLst>
                <a:path h="1623927" w="1414640">
                  <a:moveTo>
                    <a:pt x="24503" y="0"/>
                  </a:moveTo>
                  <a:lnTo>
                    <a:pt x="1390136" y="0"/>
                  </a:lnTo>
                  <a:cubicBezTo>
                    <a:pt x="1396635" y="0"/>
                    <a:pt x="1402868" y="2582"/>
                    <a:pt x="1407463" y="7177"/>
                  </a:cubicBezTo>
                  <a:cubicBezTo>
                    <a:pt x="1412058" y="11772"/>
                    <a:pt x="1414640" y="18005"/>
                    <a:pt x="1414640" y="24503"/>
                  </a:cubicBezTo>
                  <a:lnTo>
                    <a:pt x="1414640" y="1599424"/>
                  </a:lnTo>
                  <a:cubicBezTo>
                    <a:pt x="1414640" y="1605923"/>
                    <a:pt x="1412058" y="1612155"/>
                    <a:pt x="1407463" y="1616750"/>
                  </a:cubicBezTo>
                  <a:cubicBezTo>
                    <a:pt x="1402868" y="1621346"/>
                    <a:pt x="1396635" y="1623927"/>
                    <a:pt x="1390136" y="1623927"/>
                  </a:cubicBezTo>
                  <a:lnTo>
                    <a:pt x="24503" y="1623927"/>
                  </a:lnTo>
                  <a:cubicBezTo>
                    <a:pt x="18005" y="1623927"/>
                    <a:pt x="11772" y="1621346"/>
                    <a:pt x="7177" y="1616750"/>
                  </a:cubicBezTo>
                  <a:cubicBezTo>
                    <a:pt x="2582" y="1612155"/>
                    <a:pt x="0" y="1605923"/>
                    <a:pt x="0" y="1599424"/>
                  </a:cubicBezTo>
                  <a:lnTo>
                    <a:pt x="0" y="24503"/>
                  </a:lnTo>
                  <a:cubicBezTo>
                    <a:pt x="0" y="18005"/>
                    <a:pt x="2582" y="11772"/>
                    <a:pt x="7177" y="7177"/>
                  </a:cubicBezTo>
                  <a:cubicBezTo>
                    <a:pt x="11772" y="2582"/>
                    <a:pt x="18005" y="0"/>
                    <a:pt x="24503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14640" cy="1662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20039" y="1606029"/>
            <a:ext cx="5036282" cy="5878768"/>
            <a:chOff x="0" y="0"/>
            <a:chExt cx="1326428" cy="15483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6428" cy="1548317"/>
            </a:xfrm>
            <a:custGeom>
              <a:avLst/>
              <a:gdLst/>
              <a:ahLst/>
              <a:cxnLst/>
              <a:rect r="r" b="b" t="t" l="l"/>
              <a:pathLst>
                <a:path h="1548317" w="1326428">
                  <a:moveTo>
                    <a:pt x="26133" y="0"/>
                  </a:moveTo>
                  <a:lnTo>
                    <a:pt x="1300295" y="0"/>
                  </a:lnTo>
                  <a:cubicBezTo>
                    <a:pt x="1307226" y="0"/>
                    <a:pt x="1313873" y="2753"/>
                    <a:pt x="1318774" y="7654"/>
                  </a:cubicBezTo>
                  <a:cubicBezTo>
                    <a:pt x="1323675" y="12555"/>
                    <a:pt x="1326428" y="19202"/>
                    <a:pt x="1326428" y="26133"/>
                  </a:cubicBezTo>
                  <a:lnTo>
                    <a:pt x="1326428" y="1522185"/>
                  </a:lnTo>
                  <a:cubicBezTo>
                    <a:pt x="1326428" y="1536617"/>
                    <a:pt x="1314728" y="1548317"/>
                    <a:pt x="1300295" y="1548317"/>
                  </a:cubicBezTo>
                  <a:lnTo>
                    <a:pt x="26133" y="1548317"/>
                  </a:lnTo>
                  <a:cubicBezTo>
                    <a:pt x="19202" y="1548317"/>
                    <a:pt x="12555" y="1545564"/>
                    <a:pt x="7654" y="1540663"/>
                  </a:cubicBezTo>
                  <a:cubicBezTo>
                    <a:pt x="2753" y="1535762"/>
                    <a:pt x="0" y="1529115"/>
                    <a:pt x="0" y="1522185"/>
                  </a:cubicBezTo>
                  <a:lnTo>
                    <a:pt x="0" y="26133"/>
                  </a:lnTo>
                  <a:cubicBezTo>
                    <a:pt x="0" y="19202"/>
                    <a:pt x="2753" y="12555"/>
                    <a:pt x="7654" y="7654"/>
                  </a:cubicBezTo>
                  <a:cubicBezTo>
                    <a:pt x="12555" y="2753"/>
                    <a:pt x="19202" y="0"/>
                    <a:pt x="26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26428" cy="1586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66422" y="2010736"/>
            <a:ext cx="4650128" cy="4650128"/>
          </a:xfrm>
          <a:custGeom>
            <a:avLst/>
            <a:gdLst/>
            <a:ahLst/>
            <a:cxnLst/>
            <a:rect r="r" b="b" t="t" l="l"/>
            <a:pathLst>
              <a:path h="4650128" w="4650128">
                <a:moveTo>
                  <a:pt x="0" y="0"/>
                </a:moveTo>
                <a:lnTo>
                  <a:pt x="4650128" y="0"/>
                </a:lnTo>
                <a:lnTo>
                  <a:pt x="4650128" y="4650128"/>
                </a:lnTo>
                <a:lnTo>
                  <a:pt x="0" y="4650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899143" y="6619122"/>
            <a:ext cx="503628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Làm PVT sensor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66278" y="6619122"/>
            <a:ext cx="503628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Tạo số ngẫu nhiên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685560" y="5143500"/>
            <a:ext cx="5441397" cy="3607883"/>
          </a:xfrm>
          <a:custGeom>
            <a:avLst/>
            <a:gdLst/>
            <a:ahLst/>
            <a:cxnLst/>
            <a:rect r="r" b="b" t="t" l="l"/>
            <a:pathLst>
              <a:path h="3607883" w="5441397">
                <a:moveTo>
                  <a:pt x="0" y="0"/>
                </a:moveTo>
                <a:lnTo>
                  <a:pt x="5441396" y="0"/>
                </a:lnTo>
                <a:lnTo>
                  <a:pt x="5441396" y="3607883"/>
                </a:lnTo>
                <a:lnTo>
                  <a:pt x="0" y="3607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666642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3735" y="2222943"/>
            <a:ext cx="12139053" cy="21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2"/>
              </a:lnSpc>
              <a:spcBef>
                <a:spcPct val="0"/>
              </a:spcBef>
            </a:pPr>
            <a:r>
              <a:rPr lang="en-US" b="true" sz="4194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KẾ BỘ DAO ĐỘNG VÒNG CMOS 3.4 GHZ TIÊU THỤ CÔNG SUẤT THẤP </a:t>
            </a:r>
          </a:p>
          <a:p>
            <a:pPr algn="ctr" marL="0" indent="0" lvl="0">
              <a:lnSpc>
                <a:spcPts val="5872"/>
              </a:lnSpc>
              <a:spcBef>
                <a:spcPct val="0"/>
              </a:spcBef>
            </a:pPr>
            <a:r>
              <a:rPr lang="en-US" b="true" sz="4194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 CÁC ỨNG DỤNG IC TRÊN CHIP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857099"/>
            <a:ext cx="10290274" cy="503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Chưa phản ánh h</a:t>
            </a: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oàn toàn ảnh hưởng của các thành phần điện trở và điện dung ký sinh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Thực tế còn có sự biến thiên nhiệt độ, nhiễu nguồn hay các hiệu ứng vật lý gây ra hiện tượng jitter và sai lệch pha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Thiếu các phép đo đạc trên chip thực tế và phân tích các góc công nghệ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017832" y="3825034"/>
            <a:ext cx="6270168" cy="3154927"/>
          </a:xfrm>
          <a:custGeom>
            <a:avLst/>
            <a:gdLst/>
            <a:ahLst/>
            <a:cxnLst/>
            <a:rect r="r" b="b" t="t" l="l"/>
            <a:pathLst>
              <a:path h="3154927" w="6270168">
                <a:moveTo>
                  <a:pt x="0" y="0"/>
                </a:moveTo>
                <a:lnTo>
                  <a:pt x="6270168" y="0"/>
                </a:lnTo>
                <a:lnTo>
                  <a:pt x="6270168" y="3154926"/>
                </a:lnTo>
                <a:lnTo>
                  <a:pt x="0" y="3154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666642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97426"/>
            <a:ext cx="9683780" cy="1445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62"/>
              </a:lnSpc>
              <a:spcBef>
                <a:spcPct val="0"/>
              </a:spcBef>
            </a:pPr>
            <a:r>
              <a:rPr lang="en-US" sz="86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Hạn chế của đề tài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5344" y="1691320"/>
            <a:ext cx="4918637" cy="5135057"/>
          </a:xfrm>
          <a:custGeom>
            <a:avLst/>
            <a:gdLst/>
            <a:ahLst/>
            <a:cxnLst/>
            <a:rect r="r" b="b" t="t" l="l"/>
            <a:pathLst>
              <a:path h="5135057" w="4918637">
                <a:moveTo>
                  <a:pt x="0" y="0"/>
                </a:moveTo>
                <a:lnTo>
                  <a:pt x="4918637" y="0"/>
                </a:lnTo>
                <a:lnTo>
                  <a:pt x="4918637" y="5135057"/>
                </a:lnTo>
                <a:lnTo>
                  <a:pt x="0" y="5135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9176" y="4055196"/>
            <a:ext cx="5837598" cy="5542364"/>
          </a:xfrm>
          <a:custGeom>
            <a:avLst/>
            <a:gdLst/>
            <a:ahLst/>
            <a:cxnLst/>
            <a:rect r="r" b="b" t="t" l="l"/>
            <a:pathLst>
              <a:path h="5542364" w="5837598">
                <a:moveTo>
                  <a:pt x="0" y="0"/>
                </a:moveTo>
                <a:lnTo>
                  <a:pt x="5837598" y="0"/>
                </a:lnTo>
                <a:lnTo>
                  <a:pt x="5837598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86039" y="1643695"/>
            <a:ext cx="11713845" cy="214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2"/>
              </a:lnSpc>
              <a:spcBef>
                <a:spcPct val="0"/>
              </a:spcBef>
            </a:pPr>
            <a:r>
              <a:rPr lang="en-US" sz="3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0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Bộ da</a:t>
            </a:r>
            <a:r>
              <a:rPr lang="en-US" b="true" sz="30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</a:t>
            </a:r>
            <a:r>
              <a:rPr lang="en-US" sz="3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là một mạch điện tử có chức năng chuyển đổi năng lượng từ nguồn </a:t>
            </a:r>
            <a:r>
              <a:rPr lang="en-US" b="true" sz="30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DC</a:t>
            </a:r>
            <a:r>
              <a:rPr lang="en-US" sz="3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thành tín hiệu </a:t>
            </a:r>
            <a:r>
              <a:rPr lang="en-US" b="true" sz="30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</a:t>
            </a:r>
            <a:r>
              <a:rPr lang="en-US" sz="3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biến thiên tuần hoàn theo thời gian mà không cần tín hiệu kích thích từ bên ngoài.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34557" y="3017829"/>
            <a:ext cx="7081320" cy="3301411"/>
            <a:chOff x="0" y="0"/>
            <a:chExt cx="1865039" cy="869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5039" cy="869507"/>
            </a:xfrm>
            <a:custGeom>
              <a:avLst/>
              <a:gdLst/>
              <a:ahLst/>
              <a:cxnLst/>
              <a:rect r="r" b="b" t="t" l="l"/>
              <a:pathLst>
                <a:path h="869507" w="1865039">
                  <a:moveTo>
                    <a:pt x="18586" y="0"/>
                  </a:moveTo>
                  <a:lnTo>
                    <a:pt x="1846453" y="0"/>
                  </a:lnTo>
                  <a:cubicBezTo>
                    <a:pt x="1851383" y="0"/>
                    <a:pt x="1856110" y="1958"/>
                    <a:pt x="1859595" y="5444"/>
                  </a:cubicBezTo>
                  <a:cubicBezTo>
                    <a:pt x="1863081" y="8929"/>
                    <a:pt x="1865039" y="13657"/>
                    <a:pt x="1865039" y="18586"/>
                  </a:cubicBezTo>
                  <a:lnTo>
                    <a:pt x="1865039" y="850922"/>
                  </a:lnTo>
                  <a:cubicBezTo>
                    <a:pt x="1865039" y="855851"/>
                    <a:pt x="1863081" y="860578"/>
                    <a:pt x="1859595" y="864064"/>
                  </a:cubicBezTo>
                  <a:cubicBezTo>
                    <a:pt x="1856110" y="867549"/>
                    <a:pt x="1851383" y="869507"/>
                    <a:pt x="1846453" y="869507"/>
                  </a:cubicBezTo>
                  <a:lnTo>
                    <a:pt x="18586" y="869507"/>
                  </a:lnTo>
                  <a:cubicBezTo>
                    <a:pt x="13657" y="869507"/>
                    <a:pt x="8929" y="867549"/>
                    <a:pt x="5444" y="864064"/>
                  </a:cubicBezTo>
                  <a:cubicBezTo>
                    <a:pt x="1958" y="860578"/>
                    <a:pt x="0" y="855851"/>
                    <a:pt x="0" y="850922"/>
                  </a:cubicBezTo>
                  <a:lnTo>
                    <a:pt x="0" y="18586"/>
                  </a:lnTo>
                  <a:cubicBezTo>
                    <a:pt x="0" y="13657"/>
                    <a:pt x="1958" y="8929"/>
                    <a:pt x="5444" y="5444"/>
                  </a:cubicBezTo>
                  <a:cubicBezTo>
                    <a:pt x="8929" y="1958"/>
                    <a:pt x="13657" y="0"/>
                    <a:pt x="18586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65039" cy="907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3983" y="3209217"/>
            <a:ext cx="6722468" cy="1196146"/>
            <a:chOff x="0" y="0"/>
            <a:chExt cx="1770527" cy="315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0527" cy="315034"/>
            </a:xfrm>
            <a:custGeom>
              <a:avLst/>
              <a:gdLst/>
              <a:ahLst/>
              <a:cxnLst/>
              <a:rect r="r" b="b" t="t" l="l"/>
              <a:pathLst>
                <a:path h="315034" w="1770527">
                  <a:moveTo>
                    <a:pt x="19578" y="0"/>
                  </a:moveTo>
                  <a:lnTo>
                    <a:pt x="1750949" y="0"/>
                  </a:lnTo>
                  <a:cubicBezTo>
                    <a:pt x="1756141" y="0"/>
                    <a:pt x="1761121" y="2063"/>
                    <a:pt x="1764792" y="5734"/>
                  </a:cubicBezTo>
                  <a:cubicBezTo>
                    <a:pt x="1768464" y="9406"/>
                    <a:pt x="1770527" y="14386"/>
                    <a:pt x="1770527" y="19578"/>
                  </a:cubicBezTo>
                  <a:lnTo>
                    <a:pt x="1770527" y="295456"/>
                  </a:lnTo>
                  <a:cubicBezTo>
                    <a:pt x="1770527" y="300649"/>
                    <a:pt x="1768464" y="305628"/>
                    <a:pt x="1764792" y="309300"/>
                  </a:cubicBezTo>
                  <a:cubicBezTo>
                    <a:pt x="1761121" y="312972"/>
                    <a:pt x="1756141" y="315034"/>
                    <a:pt x="1750949" y="315034"/>
                  </a:cubicBezTo>
                  <a:lnTo>
                    <a:pt x="19578" y="315034"/>
                  </a:lnTo>
                  <a:cubicBezTo>
                    <a:pt x="14386" y="315034"/>
                    <a:pt x="9406" y="312972"/>
                    <a:pt x="5734" y="309300"/>
                  </a:cubicBezTo>
                  <a:cubicBezTo>
                    <a:pt x="2063" y="305628"/>
                    <a:pt x="0" y="300649"/>
                    <a:pt x="0" y="295456"/>
                  </a:cubicBezTo>
                  <a:lnTo>
                    <a:pt x="0" y="19578"/>
                  </a:lnTo>
                  <a:cubicBezTo>
                    <a:pt x="0" y="14386"/>
                    <a:pt x="2063" y="9406"/>
                    <a:pt x="5734" y="5734"/>
                  </a:cubicBezTo>
                  <a:cubicBezTo>
                    <a:pt x="9406" y="2063"/>
                    <a:pt x="14386" y="0"/>
                    <a:pt x="195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0527" cy="35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3983" y="4668535"/>
            <a:ext cx="6722468" cy="949930"/>
          </a:xfrm>
          <a:custGeom>
            <a:avLst/>
            <a:gdLst/>
            <a:ahLst/>
            <a:cxnLst/>
            <a:rect r="r" b="b" t="t" l="l"/>
            <a:pathLst>
              <a:path h="949930" w="6722468">
                <a:moveTo>
                  <a:pt x="0" y="0"/>
                </a:moveTo>
                <a:lnTo>
                  <a:pt x="6722468" y="0"/>
                </a:lnTo>
                <a:lnTo>
                  <a:pt x="6722468" y="949930"/>
                </a:lnTo>
                <a:lnTo>
                  <a:pt x="0" y="949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1" t="0" r="-431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377697" y="3017829"/>
            <a:ext cx="9910303" cy="3301411"/>
            <a:chOff x="0" y="0"/>
            <a:chExt cx="2610121" cy="8695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10121" cy="869507"/>
            </a:xfrm>
            <a:custGeom>
              <a:avLst/>
              <a:gdLst/>
              <a:ahLst/>
              <a:cxnLst/>
              <a:rect r="r" b="b" t="t" l="l"/>
              <a:pathLst>
                <a:path h="869507" w="2610121">
                  <a:moveTo>
                    <a:pt x="13280" y="0"/>
                  </a:moveTo>
                  <a:lnTo>
                    <a:pt x="2596841" y="0"/>
                  </a:lnTo>
                  <a:cubicBezTo>
                    <a:pt x="2600363" y="0"/>
                    <a:pt x="2603741" y="1399"/>
                    <a:pt x="2606231" y="3890"/>
                  </a:cubicBezTo>
                  <a:cubicBezTo>
                    <a:pt x="2608722" y="6380"/>
                    <a:pt x="2610121" y="9758"/>
                    <a:pt x="2610121" y="13280"/>
                  </a:cubicBezTo>
                  <a:lnTo>
                    <a:pt x="2610121" y="856227"/>
                  </a:lnTo>
                  <a:cubicBezTo>
                    <a:pt x="2610121" y="863562"/>
                    <a:pt x="2604175" y="869507"/>
                    <a:pt x="2596841" y="869507"/>
                  </a:cubicBezTo>
                  <a:lnTo>
                    <a:pt x="13280" y="869507"/>
                  </a:lnTo>
                  <a:cubicBezTo>
                    <a:pt x="5946" y="869507"/>
                    <a:pt x="0" y="863562"/>
                    <a:pt x="0" y="856227"/>
                  </a:cubicBezTo>
                  <a:lnTo>
                    <a:pt x="0" y="13280"/>
                  </a:lnTo>
                  <a:cubicBezTo>
                    <a:pt x="0" y="5946"/>
                    <a:pt x="5946" y="0"/>
                    <a:pt x="13280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10121" cy="907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45161" y="4920556"/>
            <a:ext cx="9575375" cy="697909"/>
          </a:xfrm>
          <a:custGeom>
            <a:avLst/>
            <a:gdLst/>
            <a:ahLst/>
            <a:cxnLst/>
            <a:rect r="r" b="b" t="t" l="l"/>
            <a:pathLst>
              <a:path h="697909" w="9575375">
                <a:moveTo>
                  <a:pt x="0" y="0"/>
                </a:moveTo>
                <a:lnTo>
                  <a:pt x="9575375" y="0"/>
                </a:lnTo>
                <a:lnTo>
                  <a:pt x="9575375" y="697909"/>
                </a:lnTo>
                <a:lnTo>
                  <a:pt x="0" y="697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8" t="0" r="-1748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352149" y="3277483"/>
            <a:ext cx="6722468" cy="1196146"/>
            <a:chOff x="0" y="0"/>
            <a:chExt cx="1770527" cy="3150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0527" cy="315034"/>
            </a:xfrm>
            <a:custGeom>
              <a:avLst/>
              <a:gdLst/>
              <a:ahLst/>
              <a:cxnLst/>
              <a:rect r="r" b="b" t="t" l="l"/>
              <a:pathLst>
                <a:path h="315034" w="1770527">
                  <a:moveTo>
                    <a:pt x="19578" y="0"/>
                  </a:moveTo>
                  <a:lnTo>
                    <a:pt x="1750949" y="0"/>
                  </a:lnTo>
                  <a:cubicBezTo>
                    <a:pt x="1756141" y="0"/>
                    <a:pt x="1761121" y="2063"/>
                    <a:pt x="1764792" y="5734"/>
                  </a:cubicBezTo>
                  <a:cubicBezTo>
                    <a:pt x="1768464" y="9406"/>
                    <a:pt x="1770527" y="14386"/>
                    <a:pt x="1770527" y="19578"/>
                  </a:cubicBezTo>
                  <a:lnTo>
                    <a:pt x="1770527" y="295456"/>
                  </a:lnTo>
                  <a:cubicBezTo>
                    <a:pt x="1770527" y="300649"/>
                    <a:pt x="1768464" y="305628"/>
                    <a:pt x="1764792" y="309300"/>
                  </a:cubicBezTo>
                  <a:cubicBezTo>
                    <a:pt x="1761121" y="312972"/>
                    <a:pt x="1756141" y="315034"/>
                    <a:pt x="1750949" y="315034"/>
                  </a:cubicBezTo>
                  <a:lnTo>
                    <a:pt x="19578" y="315034"/>
                  </a:lnTo>
                  <a:cubicBezTo>
                    <a:pt x="14386" y="315034"/>
                    <a:pt x="9406" y="312972"/>
                    <a:pt x="5734" y="309300"/>
                  </a:cubicBezTo>
                  <a:cubicBezTo>
                    <a:pt x="2063" y="305628"/>
                    <a:pt x="0" y="300649"/>
                    <a:pt x="0" y="295456"/>
                  </a:cubicBezTo>
                  <a:lnTo>
                    <a:pt x="0" y="19578"/>
                  </a:lnTo>
                  <a:cubicBezTo>
                    <a:pt x="0" y="14386"/>
                    <a:pt x="2063" y="9406"/>
                    <a:pt x="5734" y="5734"/>
                  </a:cubicBezTo>
                  <a:cubicBezTo>
                    <a:pt x="9406" y="2063"/>
                    <a:pt x="14386" y="0"/>
                    <a:pt x="195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70527" cy="35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352149" y="6499938"/>
            <a:ext cx="5971798" cy="4433910"/>
          </a:xfrm>
          <a:custGeom>
            <a:avLst/>
            <a:gdLst/>
            <a:ahLst/>
            <a:cxnLst/>
            <a:rect r="r" b="b" t="t" l="l"/>
            <a:pathLst>
              <a:path h="4433910" w="5971798">
                <a:moveTo>
                  <a:pt x="0" y="0"/>
                </a:moveTo>
                <a:lnTo>
                  <a:pt x="5971798" y="0"/>
                </a:lnTo>
                <a:lnTo>
                  <a:pt x="5971798" y="4433910"/>
                </a:lnTo>
                <a:lnTo>
                  <a:pt x="0" y="443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71555" y="6499938"/>
            <a:ext cx="4215764" cy="3655994"/>
          </a:xfrm>
          <a:custGeom>
            <a:avLst/>
            <a:gdLst/>
            <a:ahLst/>
            <a:cxnLst/>
            <a:rect r="r" b="b" t="t" l="l"/>
            <a:pathLst>
              <a:path h="3655994" w="4215764">
                <a:moveTo>
                  <a:pt x="0" y="0"/>
                </a:moveTo>
                <a:lnTo>
                  <a:pt x="4215763" y="0"/>
                </a:lnTo>
                <a:lnTo>
                  <a:pt x="4215763" y="3655995"/>
                </a:lnTo>
                <a:lnTo>
                  <a:pt x="0" y="3655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75217" y="1790870"/>
            <a:ext cx="11519654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Điều kiện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(Tiêu chuẩn Barkhausen)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5782" y="3481151"/>
            <a:ext cx="523886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Điề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 kiện về biên độ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76509" y="3481151"/>
            <a:ext cx="4273748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Điều kiện về pha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97855"/>
            <a:ext cx="8010522" cy="3779612"/>
          </a:xfrm>
          <a:custGeom>
            <a:avLst/>
            <a:gdLst/>
            <a:ahLst/>
            <a:cxnLst/>
            <a:rect r="r" b="b" t="t" l="l"/>
            <a:pathLst>
              <a:path h="3779612" w="8010522">
                <a:moveTo>
                  <a:pt x="0" y="0"/>
                </a:moveTo>
                <a:lnTo>
                  <a:pt x="8010522" y="0"/>
                </a:lnTo>
                <a:lnTo>
                  <a:pt x="8010522" y="3779612"/>
                </a:lnTo>
                <a:lnTo>
                  <a:pt x="0" y="3779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94187" y="5765948"/>
            <a:ext cx="2923559" cy="3311519"/>
          </a:xfrm>
          <a:custGeom>
            <a:avLst/>
            <a:gdLst/>
            <a:ahLst/>
            <a:cxnLst/>
            <a:rect r="r" b="b" t="t" l="l"/>
            <a:pathLst>
              <a:path h="3311519" w="2923559">
                <a:moveTo>
                  <a:pt x="0" y="0"/>
                </a:moveTo>
                <a:lnTo>
                  <a:pt x="2923559" y="0"/>
                </a:lnTo>
                <a:lnTo>
                  <a:pt x="2923559" y="3311519"/>
                </a:lnTo>
                <a:lnTo>
                  <a:pt x="0" y="3311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33961" y="2175532"/>
            <a:ext cx="10111535" cy="2800446"/>
          </a:xfrm>
          <a:custGeom>
            <a:avLst/>
            <a:gdLst/>
            <a:ahLst/>
            <a:cxnLst/>
            <a:rect r="r" b="b" t="t" l="l"/>
            <a:pathLst>
              <a:path h="2800446" w="10111535">
                <a:moveTo>
                  <a:pt x="0" y="0"/>
                </a:moveTo>
                <a:lnTo>
                  <a:pt x="10111535" y="0"/>
                </a:lnTo>
                <a:lnTo>
                  <a:pt x="10111535" y="2800446"/>
                </a:lnTo>
                <a:lnTo>
                  <a:pt x="0" y="2800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5057" y="1291472"/>
            <a:ext cx="8794671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Cấu trúc của mạch dao động vòng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371705"/>
            <a:ext cx="16578111" cy="4591401"/>
          </a:xfrm>
          <a:custGeom>
            <a:avLst/>
            <a:gdLst/>
            <a:ahLst/>
            <a:cxnLst/>
            <a:rect r="r" b="b" t="t" l="l"/>
            <a:pathLst>
              <a:path h="4591401" w="16578111">
                <a:moveTo>
                  <a:pt x="0" y="0"/>
                </a:moveTo>
                <a:lnTo>
                  <a:pt x="16578111" y="0"/>
                </a:lnTo>
                <a:lnTo>
                  <a:pt x="16578111" y="4591401"/>
                </a:lnTo>
                <a:lnTo>
                  <a:pt x="0" y="459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7547" y="4198855"/>
            <a:ext cx="371713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ED31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15605" y="4198855"/>
            <a:ext cx="104157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ED31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54613" y="4198855"/>
            <a:ext cx="104157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ED31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78310" y="4198855"/>
            <a:ext cx="104157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ED31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8143" y="6623985"/>
            <a:ext cx="371713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ED31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π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663139" y="4835492"/>
            <a:ext cx="5749766" cy="2051424"/>
          </a:xfrm>
          <a:custGeom>
            <a:avLst/>
            <a:gdLst/>
            <a:ahLst/>
            <a:cxnLst/>
            <a:rect r="r" b="b" t="t" l="l"/>
            <a:pathLst>
              <a:path h="2051424" w="5749766">
                <a:moveTo>
                  <a:pt x="0" y="0"/>
                </a:moveTo>
                <a:lnTo>
                  <a:pt x="5749767" y="0"/>
                </a:lnTo>
                <a:lnTo>
                  <a:pt x="5749767" y="2051424"/>
                </a:lnTo>
                <a:lnTo>
                  <a:pt x="0" y="2051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516" y="1495503"/>
            <a:ext cx="715387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Tần số mạch dao động vòng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1429" y="2884387"/>
            <a:ext cx="15685142" cy="21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Tần số của bộ da</a:t>
            </a: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động vòng phụ thuộc trực tiếp vào số tầng (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và thời gian trễ của mỗi tầng trễ (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td</a:t>
            </a: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).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125173" y="7416230"/>
            <a:ext cx="3543473" cy="1543050"/>
            <a:chOff x="0" y="0"/>
            <a:chExt cx="93326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3260" cy="406400"/>
            </a:xfrm>
            <a:custGeom>
              <a:avLst/>
              <a:gdLst/>
              <a:ahLst/>
              <a:cxnLst/>
              <a:rect r="r" b="b" t="t" l="l"/>
              <a:pathLst>
                <a:path h="406400" w="933260">
                  <a:moveTo>
                    <a:pt x="37142" y="0"/>
                  </a:moveTo>
                  <a:lnTo>
                    <a:pt x="896118" y="0"/>
                  </a:lnTo>
                  <a:cubicBezTo>
                    <a:pt x="905969" y="0"/>
                    <a:pt x="915416" y="3913"/>
                    <a:pt x="922382" y="10879"/>
                  </a:cubicBezTo>
                  <a:cubicBezTo>
                    <a:pt x="929347" y="17844"/>
                    <a:pt x="933260" y="27292"/>
                    <a:pt x="933260" y="37142"/>
                  </a:cubicBezTo>
                  <a:lnTo>
                    <a:pt x="933260" y="369258"/>
                  </a:lnTo>
                  <a:cubicBezTo>
                    <a:pt x="933260" y="389771"/>
                    <a:pt x="916631" y="406400"/>
                    <a:pt x="896118" y="406400"/>
                  </a:cubicBezTo>
                  <a:lnTo>
                    <a:pt x="37142" y="406400"/>
                  </a:lnTo>
                  <a:cubicBezTo>
                    <a:pt x="16629" y="406400"/>
                    <a:pt x="0" y="389771"/>
                    <a:pt x="0" y="369258"/>
                  </a:cubicBezTo>
                  <a:lnTo>
                    <a:pt x="0" y="37142"/>
                  </a:lnTo>
                  <a:cubicBezTo>
                    <a:pt x="0" y="16629"/>
                    <a:pt x="16629" y="0"/>
                    <a:pt x="37142" y="0"/>
                  </a:cubicBezTo>
                  <a:close/>
                </a:path>
              </a:pathLst>
            </a:custGeom>
            <a:solidFill>
              <a:srgbClr val="005B5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32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 flipV="true">
            <a:off x="10165237" y="6578908"/>
            <a:ext cx="2742221" cy="8373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1279588" y="7793350"/>
            <a:ext cx="325574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phải là số lẻ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95859" y="1279538"/>
            <a:ext cx="11496281" cy="7978762"/>
          </a:xfrm>
          <a:custGeom>
            <a:avLst/>
            <a:gdLst/>
            <a:ahLst/>
            <a:cxnLst/>
            <a:rect r="r" b="b" t="t" l="l"/>
            <a:pathLst>
              <a:path h="7978762" w="11496281">
                <a:moveTo>
                  <a:pt x="0" y="0"/>
                </a:moveTo>
                <a:lnTo>
                  <a:pt x="11496282" y="0"/>
                </a:lnTo>
                <a:lnTo>
                  <a:pt x="11496282" y="7978762"/>
                </a:lnTo>
                <a:lnTo>
                  <a:pt x="0" y="797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88137" y="3420007"/>
            <a:ext cx="5199181" cy="2795375"/>
          </a:xfrm>
          <a:custGeom>
            <a:avLst/>
            <a:gdLst/>
            <a:ahLst/>
            <a:cxnLst/>
            <a:rect r="r" b="b" t="t" l="l"/>
            <a:pathLst>
              <a:path h="2795375" w="5199181">
                <a:moveTo>
                  <a:pt x="0" y="0"/>
                </a:moveTo>
                <a:lnTo>
                  <a:pt x="5199181" y="0"/>
                </a:lnTo>
                <a:lnTo>
                  <a:pt x="5199181" y="2795376"/>
                </a:lnTo>
                <a:lnTo>
                  <a:pt x="0" y="2795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6673033" y="2442393"/>
            <a:ext cx="0" cy="70377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091219" y="3260103"/>
            <a:ext cx="4695279" cy="1284557"/>
          </a:xfrm>
          <a:custGeom>
            <a:avLst/>
            <a:gdLst/>
            <a:ahLst/>
            <a:cxnLst/>
            <a:rect r="r" b="b" t="t" l="l"/>
            <a:pathLst>
              <a:path h="1284557" w="4695279">
                <a:moveTo>
                  <a:pt x="0" y="0"/>
                </a:moveTo>
                <a:lnTo>
                  <a:pt x="4695279" y="0"/>
                </a:lnTo>
                <a:lnTo>
                  <a:pt x="4695279" y="1284557"/>
                </a:lnTo>
                <a:lnTo>
                  <a:pt x="0" y="1284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58748" y="4817695"/>
            <a:ext cx="5134817" cy="867368"/>
          </a:xfrm>
          <a:custGeom>
            <a:avLst/>
            <a:gdLst/>
            <a:ahLst/>
            <a:cxnLst/>
            <a:rect r="r" b="b" t="t" l="l"/>
            <a:pathLst>
              <a:path h="867368" w="5134817">
                <a:moveTo>
                  <a:pt x="0" y="0"/>
                </a:moveTo>
                <a:lnTo>
                  <a:pt x="5134817" y="0"/>
                </a:lnTo>
                <a:lnTo>
                  <a:pt x="5134817" y="867368"/>
                </a:lnTo>
                <a:lnTo>
                  <a:pt x="0" y="867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58748" y="5961288"/>
            <a:ext cx="5421947" cy="828173"/>
          </a:xfrm>
          <a:custGeom>
            <a:avLst/>
            <a:gdLst/>
            <a:ahLst/>
            <a:cxnLst/>
            <a:rect r="r" b="b" t="t" l="l"/>
            <a:pathLst>
              <a:path h="828173" w="5421947">
                <a:moveTo>
                  <a:pt x="0" y="0"/>
                </a:moveTo>
                <a:lnTo>
                  <a:pt x="5421947" y="0"/>
                </a:lnTo>
                <a:lnTo>
                  <a:pt x="5421947" y="828173"/>
                </a:lnTo>
                <a:lnTo>
                  <a:pt x="0" y="82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H="true">
            <a:off x="12480695" y="2412123"/>
            <a:ext cx="0" cy="68461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746960" y="3260103"/>
            <a:ext cx="5070831" cy="3803123"/>
          </a:xfrm>
          <a:custGeom>
            <a:avLst/>
            <a:gdLst/>
            <a:ahLst/>
            <a:cxnLst/>
            <a:rect r="r" b="b" t="t" l="l"/>
            <a:pathLst>
              <a:path h="3803123" w="5070831">
                <a:moveTo>
                  <a:pt x="0" y="0"/>
                </a:moveTo>
                <a:lnTo>
                  <a:pt x="5070831" y="0"/>
                </a:lnTo>
                <a:lnTo>
                  <a:pt x="5070831" y="3803123"/>
                </a:lnTo>
                <a:lnTo>
                  <a:pt x="0" y="38031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328039"/>
            <a:ext cx="8654177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Các thông số hiệu năng then chốt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8137" y="2335923"/>
            <a:ext cx="5199181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Thời gian cạnh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4605" y="6720208"/>
            <a:ext cx="4166247" cy="219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Ảnh hưởng:</a:t>
            </a: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tần số cao, công suất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43239" y="2335923"/>
            <a:ext cx="4765834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Công s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uất tiêu thụ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61695" y="2366193"/>
            <a:ext cx="495609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Nhiễu pha và Jitter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67145" y="2464621"/>
            <a:ext cx="3504892" cy="5064997"/>
          </a:xfrm>
          <a:custGeom>
            <a:avLst/>
            <a:gdLst/>
            <a:ahLst/>
            <a:cxnLst/>
            <a:rect r="r" b="b" t="t" l="l"/>
            <a:pathLst>
              <a:path h="5064997" w="3504892">
                <a:moveTo>
                  <a:pt x="0" y="0"/>
                </a:moveTo>
                <a:lnTo>
                  <a:pt x="3504892" y="0"/>
                </a:lnTo>
                <a:lnTo>
                  <a:pt x="3504892" y="5064997"/>
                </a:lnTo>
                <a:lnTo>
                  <a:pt x="0" y="506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86109" y="1583182"/>
            <a:ext cx="7675118" cy="7675118"/>
          </a:xfrm>
          <a:custGeom>
            <a:avLst/>
            <a:gdLst/>
            <a:ahLst/>
            <a:cxnLst/>
            <a:rect r="r" b="b" t="t" l="l"/>
            <a:pathLst>
              <a:path h="7675118" w="7675118">
                <a:moveTo>
                  <a:pt x="0" y="0"/>
                </a:moveTo>
                <a:lnTo>
                  <a:pt x="7675117" y="0"/>
                </a:lnTo>
                <a:lnTo>
                  <a:pt x="7675117" y="7675118"/>
                </a:lnTo>
                <a:lnTo>
                  <a:pt x="0" y="7675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6786039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51962"/>
            <a:ext cx="3235881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Cổng đảo 4T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98356" y="1803767"/>
          <a:ext cx="17291288" cy="7256278"/>
        </p:xfrm>
        <a:graphic>
          <a:graphicData uri="http://schemas.openxmlformats.org/drawingml/2006/table">
            <a:tbl>
              <a:tblPr/>
              <a:tblGrid>
                <a:gridCol w="1595518"/>
                <a:gridCol w="7050127"/>
                <a:gridCol w="4322822"/>
                <a:gridCol w="4322822"/>
              </a:tblGrid>
              <a:tr h="9844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Định nghĩa testcase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Ý nghĩa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Các thông số cần đo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 sánh Inverter thông thường và Inverter mới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Kiểm tra độ hiệu quả của thiết kế mới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I, P, thời gian cạnh và thời gian lan truyền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Mô phỏng bộ dao động vòng với số tầng khác nhau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Tìm ra số tầng phù hợp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f, I, P, thời gian cạnh và thời gian lan truyền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Mô phỏng bộ dao động vòng với điện áp cung cấp khác nhau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Kiểm tra tính ổn định của mạch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f, I, P, thời gian cạnh và thời gian lan truyền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Mô phỏng bộ dao động vòng với nhiệt độ khác nhau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Kiểm tra tính ổn định của mạch với yếu tố môi trường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f, I, P, thời gian cạnh và thời gian lan truyền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43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Nhiễu pha của bộ dao động vòng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Đánh giá tính ổn định của mạch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Đồ thị nhiễu pha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23500" y="3113559"/>
            <a:ext cx="11017126" cy="4681892"/>
          </a:xfrm>
          <a:custGeom>
            <a:avLst/>
            <a:gdLst/>
            <a:ahLst/>
            <a:cxnLst/>
            <a:rect r="r" b="b" t="t" l="l"/>
            <a:pathLst>
              <a:path h="4681892" w="11017126">
                <a:moveTo>
                  <a:pt x="0" y="0"/>
                </a:moveTo>
                <a:lnTo>
                  <a:pt x="11017127" y="0"/>
                </a:lnTo>
                <a:lnTo>
                  <a:pt x="11017127" y="4681892"/>
                </a:lnTo>
                <a:lnTo>
                  <a:pt x="0" y="4681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1081" y="1351962"/>
            <a:ext cx="1358954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sánh Inverter thông thường và Inverter mới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7708" y="3462981"/>
            <a:ext cx="8963705" cy="4537798"/>
          </a:xfrm>
          <a:custGeom>
            <a:avLst/>
            <a:gdLst/>
            <a:ahLst/>
            <a:cxnLst/>
            <a:rect r="r" b="b" t="t" l="l"/>
            <a:pathLst>
              <a:path h="4537798" w="8963705">
                <a:moveTo>
                  <a:pt x="0" y="0"/>
                </a:moveTo>
                <a:lnTo>
                  <a:pt x="8963704" y="0"/>
                </a:lnTo>
                <a:lnTo>
                  <a:pt x="8963704" y="4537797"/>
                </a:lnTo>
                <a:lnTo>
                  <a:pt x="0" y="4537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21412" y="2244659"/>
            <a:ext cx="4681767" cy="4669045"/>
          </a:xfrm>
          <a:custGeom>
            <a:avLst/>
            <a:gdLst/>
            <a:ahLst/>
            <a:cxnLst/>
            <a:rect r="r" b="b" t="t" l="l"/>
            <a:pathLst>
              <a:path h="4669045" w="4681767">
                <a:moveTo>
                  <a:pt x="0" y="0"/>
                </a:moveTo>
                <a:lnTo>
                  <a:pt x="4681767" y="0"/>
                </a:lnTo>
                <a:lnTo>
                  <a:pt x="4681767" y="4669045"/>
                </a:lnTo>
                <a:lnTo>
                  <a:pt x="0" y="4669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27742" y="5143500"/>
            <a:ext cx="4537798" cy="4537798"/>
          </a:xfrm>
          <a:custGeom>
            <a:avLst/>
            <a:gdLst/>
            <a:ahLst/>
            <a:cxnLst/>
            <a:rect r="r" b="b" t="t" l="l"/>
            <a:pathLst>
              <a:path h="4537798" w="4537798">
                <a:moveTo>
                  <a:pt x="0" y="0"/>
                </a:moveTo>
                <a:lnTo>
                  <a:pt x="4537798" y="0"/>
                </a:lnTo>
                <a:lnTo>
                  <a:pt x="4537798" y="4537798"/>
                </a:lnTo>
                <a:lnTo>
                  <a:pt x="0" y="4537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1081" y="1351962"/>
            <a:ext cx="1358954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sánh Inverter thông thường và Inverter mới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2618" y="2369371"/>
            <a:ext cx="4726067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quả mô phỏng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081" y="8545691"/>
            <a:ext cx="11053167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Inverter 4T tiêu thụ công suất ít hơn 35%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574733" y="5870258"/>
            <a:ext cx="1015365" cy="439103"/>
            <a:chOff x="0" y="0"/>
            <a:chExt cx="1353820" cy="585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8627" y="62451"/>
              <a:ext cx="1283371" cy="494810"/>
            </a:xfrm>
            <a:custGeom>
              <a:avLst/>
              <a:gdLst/>
              <a:ahLst/>
              <a:cxnLst/>
              <a:rect r="r" b="b" t="t" l="l"/>
              <a:pathLst>
                <a:path h="494810" w="1283371">
                  <a:moveTo>
                    <a:pt x="32173" y="9939"/>
                  </a:moveTo>
                  <a:cubicBezTo>
                    <a:pt x="496993" y="-10381"/>
                    <a:pt x="565573" y="6129"/>
                    <a:pt x="644313" y="9939"/>
                  </a:cubicBezTo>
                  <a:cubicBezTo>
                    <a:pt x="723053" y="12479"/>
                    <a:pt x="792903" y="-7841"/>
                    <a:pt x="880533" y="9939"/>
                  </a:cubicBezTo>
                  <a:cubicBezTo>
                    <a:pt x="998643" y="32799"/>
                    <a:pt x="1272963" y="100109"/>
                    <a:pt x="1283123" y="173769"/>
                  </a:cubicBezTo>
                  <a:cubicBezTo>
                    <a:pt x="1293283" y="248699"/>
                    <a:pt x="987213" y="425229"/>
                    <a:pt x="923713" y="455709"/>
                  </a:cubicBezTo>
                  <a:cubicBezTo>
                    <a:pt x="903393" y="465869"/>
                    <a:pt x="903393" y="464599"/>
                    <a:pt x="880533" y="467139"/>
                  </a:cubicBezTo>
                  <a:cubicBezTo>
                    <a:pt x="805603" y="474759"/>
                    <a:pt x="542713" y="454439"/>
                    <a:pt x="392853" y="455709"/>
                  </a:cubicBezTo>
                  <a:cubicBezTo>
                    <a:pt x="263313" y="456979"/>
                    <a:pt x="95673" y="531909"/>
                    <a:pt x="32173" y="470949"/>
                  </a:cubicBezTo>
                  <a:cubicBezTo>
                    <a:pt x="-40217" y="402369"/>
                    <a:pt x="32173" y="9939"/>
                    <a:pt x="32173" y="9939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842635" y="5924550"/>
            <a:ext cx="717232" cy="454343"/>
            <a:chOff x="0" y="0"/>
            <a:chExt cx="956310" cy="605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0" y="12054"/>
              <a:ext cx="914250" cy="546321"/>
            </a:xfrm>
            <a:custGeom>
              <a:avLst/>
              <a:gdLst/>
              <a:ahLst/>
              <a:cxnLst/>
              <a:rect r="r" b="b" t="t" l="l"/>
              <a:pathLst>
                <a:path h="546321" w="914250">
                  <a:moveTo>
                    <a:pt x="0" y="98436"/>
                  </a:moveTo>
                  <a:cubicBezTo>
                    <a:pt x="166370" y="56526"/>
                    <a:pt x="250190" y="45096"/>
                    <a:pt x="346710" y="38746"/>
                  </a:cubicBezTo>
                  <a:cubicBezTo>
                    <a:pt x="485140" y="29856"/>
                    <a:pt x="772160" y="-43804"/>
                    <a:pt x="854710" y="38746"/>
                  </a:cubicBezTo>
                  <a:cubicBezTo>
                    <a:pt x="932180" y="116216"/>
                    <a:pt x="935990" y="412126"/>
                    <a:pt x="854710" y="495946"/>
                  </a:cubicBezTo>
                  <a:cubicBezTo>
                    <a:pt x="758190" y="593736"/>
                    <a:pt x="347980" y="488326"/>
                    <a:pt x="228600" y="508646"/>
                  </a:cubicBezTo>
                  <a:cubicBezTo>
                    <a:pt x="179070" y="517536"/>
                    <a:pt x="156210" y="558176"/>
                    <a:pt x="127000" y="542936"/>
                  </a:cubicBezTo>
                  <a:cubicBezTo>
                    <a:pt x="66040" y="509916"/>
                    <a:pt x="0" y="98436"/>
                    <a:pt x="0" y="98436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538538" y="4975860"/>
            <a:ext cx="859155" cy="487680"/>
            <a:chOff x="0" y="0"/>
            <a:chExt cx="1145540" cy="650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3098" y="50800"/>
              <a:ext cx="1111347" cy="598110"/>
            </a:xfrm>
            <a:custGeom>
              <a:avLst/>
              <a:gdLst/>
              <a:ahLst/>
              <a:cxnLst/>
              <a:rect r="r" b="b" t="t" l="l"/>
              <a:pathLst>
                <a:path h="598110" w="1111347">
                  <a:moveTo>
                    <a:pt x="153752" y="0"/>
                  </a:moveTo>
                  <a:cubicBezTo>
                    <a:pt x="354412" y="62230"/>
                    <a:pt x="435692" y="81280"/>
                    <a:pt x="534752" y="90170"/>
                  </a:cubicBezTo>
                  <a:cubicBezTo>
                    <a:pt x="674452" y="102870"/>
                    <a:pt x="966552" y="7620"/>
                    <a:pt x="1050372" y="91440"/>
                  </a:cubicBezTo>
                  <a:cubicBezTo>
                    <a:pt x="1129112" y="168910"/>
                    <a:pt x="1134192" y="464820"/>
                    <a:pt x="1050372" y="548640"/>
                  </a:cubicBezTo>
                  <a:cubicBezTo>
                    <a:pt x="948772" y="648970"/>
                    <a:pt x="560152" y="570230"/>
                    <a:pt x="369652" y="542290"/>
                  </a:cubicBezTo>
                  <a:cubicBezTo>
                    <a:pt x="228682" y="521970"/>
                    <a:pt x="49612" y="519430"/>
                    <a:pt x="7702" y="438150"/>
                  </a:cubicBezTo>
                  <a:cubicBezTo>
                    <a:pt x="-40558" y="349250"/>
                    <a:pt x="153752" y="0"/>
                    <a:pt x="153752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909310" y="4948238"/>
            <a:ext cx="765810" cy="422910"/>
            <a:chOff x="0" y="0"/>
            <a:chExt cx="1021080" cy="563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0724" y="50800"/>
              <a:ext cx="995021" cy="554543"/>
            </a:xfrm>
            <a:custGeom>
              <a:avLst/>
              <a:gdLst/>
              <a:ahLst/>
              <a:cxnLst/>
              <a:rect r="r" b="b" t="t" l="l"/>
              <a:pathLst>
                <a:path h="554543" w="995021">
                  <a:moveTo>
                    <a:pt x="40076" y="0"/>
                  </a:moveTo>
                  <a:cubicBezTo>
                    <a:pt x="1048456" y="88900"/>
                    <a:pt x="1048456" y="367030"/>
                    <a:pt x="958286" y="457200"/>
                  </a:cubicBezTo>
                  <a:cubicBezTo>
                    <a:pt x="832556" y="584200"/>
                    <a:pt x="167076" y="588010"/>
                    <a:pt x="40076" y="462280"/>
                  </a:cubicBezTo>
                  <a:cubicBezTo>
                    <a:pt x="-50094" y="372110"/>
                    <a:pt x="40076" y="0"/>
                    <a:pt x="40076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37753" y="2027059"/>
            <a:ext cx="8783659" cy="2722565"/>
          </a:xfrm>
          <a:custGeom>
            <a:avLst/>
            <a:gdLst/>
            <a:ahLst/>
            <a:cxnLst/>
            <a:rect r="r" b="b" t="t" l="l"/>
            <a:pathLst>
              <a:path h="2722565" w="8783659">
                <a:moveTo>
                  <a:pt x="0" y="0"/>
                </a:moveTo>
                <a:lnTo>
                  <a:pt x="8783659" y="0"/>
                </a:lnTo>
                <a:lnTo>
                  <a:pt x="8783659" y="2722565"/>
                </a:lnTo>
                <a:lnTo>
                  <a:pt x="0" y="2722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47304" y="5107303"/>
            <a:ext cx="11030665" cy="4861493"/>
          </a:xfrm>
          <a:custGeom>
            <a:avLst/>
            <a:gdLst/>
            <a:ahLst/>
            <a:cxnLst/>
            <a:rect r="r" b="b" t="t" l="l"/>
            <a:pathLst>
              <a:path h="4861493" w="11030665">
                <a:moveTo>
                  <a:pt x="0" y="0"/>
                </a:moveTo>
                <a:lnTo>
                  <a:pt x="11030665" y="0"/>
                </a:lnTo>
                <a:lnTo>
                  <a:pt x="11030665" y="4861492"/>
                </a:lnTo>
                <a:lnTo>
                  <a:pt x="0" y="4861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5387" y="1143000"/>
            <a:ext cx="14450791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số tầng khác nhau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62780" y="3246154"/>
            <a:ext cx="739652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lập thông số mô phỏng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143644"/>
            <a:ext cx="4726067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quả mô phỏng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423349" y="2255659"/>
            <a:ext cx="9441302" cy="7174242"/>
          </a:xfrm>
          <a:custGeom>
            <a:avLst/>
            <a:gdLst/>
            <a:ahLst/>
            <a:cxnLst/>
            <a:rect r="r" b="b" t="t" l="l"/>
            <a:pathLst>
              <a:path h="7174242" w="9441302">
                <a:moveTo>
                  <a:pt x="0" y="0"/>
                </a:moveTo>
                <a:lnTo>
                  <a:pt x="9441302" y="0"/>
                </a:lnTo>
                <a:lnTo>
                  <a:pt x="9441302" y="7174242"/>
                </a:lnTo>
                <a:lnTo>
                  <a:pt x="0" y="717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4450791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số tầng khác nhau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323331" y="3161365"/>
            <a:ext cx="13064070" cy="3964269"/>
          </a:xfrm>
          <a:custGeom>
            <a:avLst/>
            <a:gdLst/>
            <a:ahLst/>
            <a:cxnLst/>
            <a:rect r="r" b="b" t="t" l="l"/>
            <a:pathLst>
              <a:path h="3964269" w="13064070">
                <a:moveTo>
                  <a:pt x="0" y="0"/>
                </a:moveTo>
                <a:lnTo>
                  <a:pt x="13064070" y="0"/>
                </a:lnTo>
                <a:lnTo>
                  <a:pt x="13064070" y="3964270"/>
                </a:lnTo>
                <a:lnTo>
                  <a:pt x="0" y="396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điện áp cung cấp khác nhau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07548"/>
            <a:ext cx="12824091" cy="7250752"/>
          </a:xfrm>
          <a:custGeom>
            <a:avLst/>
            <a:gdLst/>
            <a:ahLst/>
            <a:cxnLst/>
            <a:rect r="r" b="b" t="t" l="l"/>
            <a:pathLst>
              <a:path h="7250752" w="12824091">
                <a:moveTo>
                  <a:pt x="0" y="0"/>
                </a:moveTo>
                <a:lnTo>
                  <a:pt x="12824091" y="0"/>
                </a:lnTo>
                <a:lnTo>
                  <a:pt x="12824091" y="7250752"/>
                </a:lnTo>
                <a:lnTo>
                  <a:pt x="0" y="725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điện áp cung cấp khác nhau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100232" y="2134710"/>
            <a:ext cx="4187768" cy="141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  <a:spcBef>
                <a:spcPct val="0"/>
              </a:spcBef>
            </a:pP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VDD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 </a:t>
            </a: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thời gian cạnh và thời gian lan truyền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giảm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00232" y="3937830"/>
            <a:ext cx="4187768" cy="46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  <a:spcBef>
                <a:spcPct val="0"/>
              </a:spcBef>
            </a:pP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VDD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 </a:t>
            </a: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tần số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00232" y="5086350"/>
            <a:ext cx="4187768" cy="94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2"/>
              </a:lnSpc>
              <a:spcBef>
                <a:spcPct val="0"/>
              </a:spcBef>
            </a:pP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VDD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 </a:t>
            </a:r>
            <a:r>
              <a:rPr lang="en-US" sz="2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công suất </a:t>
            </a:r>
            <a:r>
              <a:rPr lang="en-US" b="true" sz="26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8461" y="2219885"/>
            <a:ext cx="7350964" cy="5557265"/>
          </a:xfrm>
          <a:custGeom>
            <a:avLst/>
            <a:gdLst/>
            <a:ahLst/>
            <a:cxnLst/>
            <a:rect r="r" b="b" t="t" l="l"/>
            <a:pathLst>
              <a:path h="5557265" w="7350964">
                <a:moveTo>
                  <a:pt x="0" y="0"/>
                </a:moveTo>
                <a:lnTo>
                  <a:pt x="7350965" y="0"/>
                </a:lnTo>
                <a:lnTo>
                  <a:pt x="7350965" y="5557265"/>
                </a:lnTo>
                <a:lnTo>
                  <a:pt x="0" y="555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7545" y="2219885"/>
            <a:ext cx="6101055" cy="5557265"/>
          </a:xfrm>
          <a:custGeom>
            <a:avLst/>
            <a:gdLst/>
            <a:ahLst/>
            <a:cxnLst/>
            <a:rect r="r" b="b" t="t" l="l"/>
            <a:pathLst>
              <a:path h="5557265" w="6101055">
                <a:moveTo>
                  <a:pt x="0" y="0"/>
                </a:moveTo>
                <a:lnTo>
                  <a:pt x="6101054" y="0"/>
                </a:lnTo>
                <a:lnTo>
                  <a:pt x="6101054" y="5557265"/>
                </a:lnTo>
                <a:lnTo>
                  <a:pt x="0" y="5557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điện áp cung cấp khác nhau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19091" y="8101000"/>
            <a:ext cx="3349705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Đồ thị VDD-F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6696" y="8101000"/>
            <a:ext cx="4665464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Đồ thị VDD-power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54208" y="2770009"/>
            <a:ext cx="13639061" cy="4269291"/>
          </a:xfrm>
          <a:custGeom>
            <a:avLst/>
            <a:gdLst/>
            <a:ahLst/>
            <a:cxnLst/>
            <a:rect r="r" b="b" t="t" l="l"/>
            <a:pathLst>
              <a:path h="4269291" w="13639061">
                <a:moveTo>
                  <a:pt x="0" y="0"/>
                </a:moveTo>
                <a:lnTo>
                  <a:pt x="13639061" y="0"/>
                </a:lnTo>
                <a:lnTo>
                  <a:pt x="13639061" y="4269291"/>
                </a:lnTo>
                <a:lnTo>
                  <a:pt x="0" y="426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nhiệt độ khác nhau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6005" y="2770009"/>
            <a:ext cx="11037417" cy="5572437"/>
          </a:xfrm>
          <a:custGeom>
            <a:avLst/>
            <a:gdLst/>
            <a:ahLst/>
            <a:cxnLst/>
            <a:rect r="r" b="b" t="t" l="l"/>
            <a:pathLst>
              <a:path h="5572437" w="11037417">
                <a:moveTo>
                  <a:pt x="0" y="0"/>
                </a:moveTo>
                <a:lnTo>
                  <a:pt x="11037417" y="0"/>
                </a:lnTo>
                <a:lnTo>
                  <a:pt x="11037417" y="5572437"/>
                </a:lnTo>
                <a:lnTo>
                  <a:pt x="0" y="5572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596" indent="-452798" lvl="1">
              <a:lnSpc>
                <a:spcPts val="5872"/>
              </a:lnSpc>
              <a:spcBef>
                <a:spcPct val="0"/>
              </a:spcBef>
              <a:buAutoNum type="arabicPeriod" startAt="1"/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Mô phỏng bộ da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động vòng với nhiệt độ khác nhau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645931" y="2693809"/>
            <a:ext cx="363140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Nhiệt độ 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tăng: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67620" y="3501668"/>
            <a:ext cx="6113732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Thời gian cạnh và thời gian lan truyền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tăng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67620" y="5480028"/>
            <a:ext cx="3023235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Tần số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giảm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7620" y="6716512"/>
            <a:ext cx="5377696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sz="4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Công suất động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giảm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3929" y="1908880"/>
            <a:ext cx="16655371" cy="5816161"/>
          </a:xfrm>
          <a:custGeom>
            <a:avLst/>
            <a:gdLst/>
            <a:ahLst/>
            <a:cxnLst/>
            <a:rect r="r" b="b" t="t" l="l"/>
            <a:pathLst>
              <a:path h="5816161" w="16655371">
                <a:moveTo>
                  <a:pt x="0" y="0"/>
                </a:moveTo>
                <a:lnTo>
                  <a:pt x="16655371" y="0"/>
                </a:lnTo>
                <a:lnTo>
                  <a:pt x="16655371" y="5816161"/>
                </a:lnTo>
                <a:lnTo>
                  <a:pt x="0" y="5816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07942"/>
            <a:ext cx="914400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5387" y="1143000"/>
            <a:ext cx="17058449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5.Nhiễu pha 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5271" y="8067941"/>
            <a:ext cx="16232283" cy="50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  <a:spcBef>
                <a:spcPct val="0"/>
              </a:spcBef>
            </a:pPr>
            <a:r>
              <a:rPr lang="en-US" b="true" sz="29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Tại tần số 3.987211</a:t>
            </a:r>
            <a:r>
              <a:rPr lang="en-US" b="true" sz="29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GHz mức nhiễu pha đo được là -143.0733 dBc/Hz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244011" y="8753337"/>
            <a:ext cx="18288000" cy="50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  <a:spcBef>
                <a:spcPct val="0"/>
              </a:spcBef>
            </a:pPr>
            <a:r>
              <a:rPr lang="en-US" b="true" sz="29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9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 thấy tín hiệu ngõ ra của bộ dao động cực kỳ sạch khi xét ở dải ngoài.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DBF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153314"/>
            <a:ext cx="16593627" cy="165936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2272" y="112462"/>
            <a:ext cx="4943457" cy="125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2"/>
              </a:lnSpc>
              <a:spcBef>
                <a:spcPct val="0"/>
              </a:spcBef>
            </a:pPr>
            <a:r>
              <a:rPr lang="en-US" b="true" sz="73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lục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92647" y="2021819"/>
            <a:ext cx="10286524" cy="73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1: Giới thiệu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2: Cơ sở lý thuyết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3: Thiết kế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4: Mô phỏng và đánh giá</a:t>
            </a:r>
          </a:p>
          <a:p>
            <a:pPr algn="l">
              <a:lnSpc>
                <a:spcPts val="5872"/>
              </a:lnSpc>
            </a:pPr>
          </a:p>
          <a:p>
            <a:pPr algn="l">
              <a:lnSpc>
                <a:spcPts val="5872"/>
              </a:lnSpc>
            </a:pPr>
            <a:r>
              <a:rPr lang="en-US" sz="4194" b="true">
                <a:solidFill>
                  <a:srgbClr val="005B5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  <a:p>
            <a:pPr algn="l">
              <a:lnSpc>
                <a:spcPts val="5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0" y="107942"/>
            <a:ext cx="1067510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210" y="1143000"/>
            <a:ext cx="215872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luận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98509"/>
            <a:ext cx="17259300" cy="339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và mô phỏng thành công bộ da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động vòng 5 tầng sử dụng Inverter 4-transistor cải tiến, hướng tới ứng dụng công suất thấp.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Áp dụng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kỹ thuật stacking giúp giảm hiệu quả cả công suất tĩnh và động, phù hợp cho hệ thống VLSI.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Mạch đạt tần số 3,419 GHz tại VDD = 1 V, bám sát mục tiêu thiết kế 3,4 GHz.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 với inverter CMOS truyền thống: Giảm ~35% công suất động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87966" y="6274575"/>
            <a:ext cx="16900034" cy="14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Thiết kế đáp ứng tốt yêu cầu về tần số, công s</a:t>
            </a: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uất và độ ổn định, là giải pháp khả thi cho các hệ thống tích hợp công suất thấp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04922" y="1009650"/>
            <a:ext cx="962633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424430"/>
            <a:ext cx="17259300" cy="538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Tích hợp bộ da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động vào hệ PLL hoàn chỉnh, sử dụng như VCO, phục vụ: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Tổng hợp tần số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Clock &amp; Data Recovery (CDR)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Hệ thống truyền thông tốc độ cao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Nghiên cứ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 bù PVT (Process – Voltage – Temperature):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Bổ sung mạch bù nhiệt, bù điện áp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Giảm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trôi tần số ở môi trường khắc nghiệt</a:t>
            </a:r>
          </a:p>
          <a:p>
            <a:pPr algn="l" marL="604511" indent="-302256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Khảo sát thiết kế trên công nghệ CMOS tiên tiến hơn (22 nm, 7 nm):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Đánh giá giới hạn tốc độ và công suất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Hướng tới ứng dụng IoT, 5G, SoC công suất thấp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65465" y="6605157"/>
            <a:ext cx="5805701" cy="3527770"/>
          </a:xfrm>
          <a:custGeom>
            <a:avLst/>
            <a:gdLst/>
            <a:ahLst/>
            <a:cxnLst/>
            <a:rect r="r" b="b" t="t" l="l"/>
            <a:pathLst>
              <a:path h="3527770" w="5805701">
                <a:moveTo>
                  <a:pt x="0" y="0"/>
                </a:moveTo>
                <a:lnTo>
                  <a:pt x="5805701" y="0"/>
                </a:lnTo>
                <a:lnTo>
                  <a:pt x="5805701" y="3527769"/>
                </a:lnTo>
                <a:lnTo>
                  <a:pt x="0" y="3527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7942"/>
            <a:ext cx="10675102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Chương 5: Kết luận và hướng phát triển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210" y="1143000"/>
            <a:ext cx="4526280" cy="7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2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Hướng phát triển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8514" y="0"/>
            <a:ext cx="11733885" cy="10287000"/>
          </a:xfrm>
          <a:custGeom>
            <a:avLst/>
            <a:gdLst/>
            <a:ahLst/>
            <a:cxnLst/>
            <a:rect r="r" b="b" t="t" l="l"/>
            <a:pathLst>
              <a:path h="10287000" w="11733885">
                <a:moveTo>
                  <a:pt x="0" y="0"/>
                </a:moveTo>
                <a:lnTo>
                  <a:pt x="11733886" y="0"/>
                </a:lnTo>
                <a:lnTo>
                  <a:pt x="117338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DAG-Bli-8-Q</dc:identifier>
  <dcterms:modified xsi:type="dcterms:W3CDTF">2011-08-01T06:04:30Z</dcterms:modified>
  <cp:revision>1</cp:revision>
  <dc:title>THIẾT KẾ BỘ DAO ĐỘNG VÒNG CMOS 3.4 GHZ TIÊU THỤ CÔNG SUẤT THẤP CHO CÁC ỨNG DỤNG IC TRÊN CHIP</dc:title>
</cp:coreProperties>
</file>